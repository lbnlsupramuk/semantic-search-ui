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09728" tIns="73152" bIns="54864"/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Why semantic search is currently blocked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1338560" cy="347472"/>
          </a:xfrm>
          <a:prstGeom prst="rect">
            <a:avLst/>
          </a:prstGeom>
          <a:noFill/>
        </p:spPr>
        <p:txBody>
          <a:bodyPr wrap="square" lIns="109728" rIns="109728" tIns="73152" bIns="54864" anchor="ctr">
            <a:spAutoFit/>
          </a:bodyPr>
          <a:lstStyle/>
          <a:p>
            <a:pPr algn="l"/>
            <a:r>
              <a:rPr sz="1400" b="0">
                <a:solidFill>
                  <a:srgbClr val="53656D"/>
                </a:solidFill>
                <a:latin typeface="Aptos"/>
              </a:rPr>
              <a:t>A search uses two model calls: planning and query embedding. Moving only one call does not remove the CBorg dependency.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81328"/>
            <a:ext cx="14173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600" b="1">
                <a:solidFill>
                  <a:srgbClr val="1F2D35"/>
                </a:solidFill>
                <a:latin typeface="Aptos"/>
              </a:rPr>
              <a:t>User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481328"/>
            <a:ext cx="1600200" cy="658368"/>
          </a:xfrm>
          <a:prstGeom prst="roundRect">
            <a:avLst/>
          </a:prstGeom>
          <a:solidFill>
            <a:srgbClr val="E8F1F4"/>
          </a:solidFill>
          <a:ln w="19050">
            <a:solidFill>
              <a:srgbClr val="4F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500" b="1">
                <a:solidFill>
                  <a:srgbClr val="1F2D35"/>
                </a:solidFill>
                <a:latin typeface="Aptos"/>
              </a:rPr>
              <a:t>Semantic Search
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810512"/>
            <a:ext cx="320040" cy="0"/>
          </a:xfrm>
          <a:prstGeom prst="line">
            <a:avLst/>
          </a:prstGeom>
          <a:ln w="25400">
            <a:solidFill>
              <a:srgbClr val="4F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749039" y="1810512"/>
            <a:ext cx="640081" cy="0"/>
          </a:xfrm>
          <a:prstGeom prst="line">
            <a:avLst/>
          </a:prstGeom>
          <a:ln w="25400">
            <a:solidFill>
              <a:srgbClr val="4F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1143000"/>
            <a:ext cx="21488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1F2D35"/>
                </a:solidFill>
                <a:latin typeface="Aptos"/>
              </a:rPr>
              <a:t>Planner call
Natural language →
structured QueryPlan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143000"/>
            <a:ext cx="21488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300" b="1">
                <a:solidFill>
                  <a:srgbClr val="1F2D35"/>
                </a:solidFill>
                <a:latin typeface="Aptos"/>
              </a:rPr>
              <a:t>Embedding call
Query text →
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523744"/>
            <a:ext cx="2057400" cy="228600"/>
          </a:xfrm>
          <a:prstGeom prst="rect">
            <a:avLst/>
          </a:prstGeom>
          <a:noFill/>
        </p:spPr>
        <p:txBody>
          <a:bodyPr wrap="square" lIns="109728" rIns="109728" tIns="73152" bIns="54864" anchor="ctr">
            <a:spAutoFit/>
          </a:bodyPr>
          <a:lstStyle/>
          <a:p>
            <a:pPr algn="ctr"/>
            <a:r>
              <a:rPr sz="1000" b="1">
                <a:solidFill>
                  <a:srgbClr val="A12828"/>
                </a:solidFill>
                <a:latin typeface="Aptos"/>
              </a:rPr>
              <a:t>CURRENT: CBorg endpoint +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23744"/>
            <a:ext cx="2057400" cy="228600"/>
          </a:xfrm>
          <a:prstGeom prst="rect">
            <a:avLst/>
          </a:prstGeom>
          <a:noFill/>
        </p:spPr>
        <p:txBody>
          <a:bodyPr wrap="square" lIns="109728" rIns="109728" tIns="73152" bIns="54864" anchor="ctr">
            <a:spAutoFit/>
          </a:bodyPr>
          <a:lstStyle/>
          <a:p>
            <a:pPr algn="ctr"/>
            <a:r>
              <a:rPr sz="1000" b="1">
                <a:solidFill>
                  <a:srgbClr val="A12828"/>
                </a:solidFill>
                <a:latin typeface="Aptos"/>
              </a:rPr>
              <a:t>CURRENT: CBorg endpoint +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971800"/>
            <a:ext cx="1874519" cy="566928"/>
          </a:xfrm>
          <a:prstGeom prst="roundRect">
            <a:avLst/>
          </a:prstGeom>
          <a:solidFill>
            <a:srgbClr val="FCEDED"/>
          </a:solidFill>
          <a:ln w="19050">
            <a:solidFill>
              <a:srgbClr val="A1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400" b="1">
                <a:solidFill>
                  <a:srgbClr val="A12828"/>
                </a:solidFill>
                <a:latin typeface="Aptos"/>
              </a:rPr>
              <a:t>429 budget_exceeded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71800"/>
            <a:ext cx="1874519" cy="566928"/>
          </a:xfrm>
          <a:prstGeom prst="roundRect">
            <a:avLst/>
          </a:prstGeom>
          <a:solidFill>
            <a:srgbClr val="FCEDED"/>
          </a:solidFill>
          <a:ln w="19050">
            <a:solidFill>
              <a:srgbClr val="A1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400" b="1">
                <a:solidFill>
                  <a:srgbClr val="A12828"/>
                </a:solidFill>
                <a:latin typeface="Aptos"/>
              </a:rPr>
              <a:t>429 budget_exceeded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68112" y="2468880"/>
            <a:ext cx="0" cy="502920"/>
          </a:xfrm>
          <a:prstGeom prst="line">
            <a:avLst/>
          </a:prstGeom>
          <a:ln w="25400">
            <a:solidFill>
              <a:srgbClr val="A1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74152" y="2468880"/>
            <a:ext cx="0" cy="502920"/>
          </a:xfrm>
          <a:prstGeom prst="line">
            <a:avLst/>
          </a:prstGeom>
          <a:ln w="25400">
            <a:solidFill>
              <a:srgbClr val="A1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60" y="1810512"/>
            <a:ext cx="3017520" cy="2350008"/>
          </a:xfrm>
          <a:prstGeom prst="line">
            <a:avLst/>
          </a:prstGeom>
          <a:ln w="25400">
            <a:solidFill>
              <a:srgbClr val="4F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1810512"/>
            <a:ext cx="411480" cy="2350008"/>
          </a:xfrm>
          <a:prstGeom prst="line">
            <a:avLst/>
          </a:prstGeom>
          <a:ln w="25400">
            <a:solidFill>
              <a:srgbClr val="4F7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55480" y="3730752"/>
            <a:ext cx="2148840" cy="868680"/>
          </a:xfrm>
          <a:prstGeom prst="roundRect">
            <a:avLst/>
          </a:prstGeom>
          <a:solidFill>
            <a:srgbClr val="E8F1F4"/>
          </a:solidFill>
          <a:ln w="19050">
            <a:solidFill>
              <a:srgbClr val="00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500" b="1">
                <a:solidFill>
                  <a:srgbClr val="1F2D35"/>
                </a:solidFill>
                <a:latin typeface="Aptos"/>
              </a:rPr>
              <a:t>PostgreSQL +
pgvector 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25328" y="4599432"/>
            <a:ext cx="0" cy="411480"/>
          </a:xfrm>
          <a:prstGeom prst="line">
            <a:avLst/>
          </a:prstGeom>
          <a:ln w="25400">
            <a:solidFill>
              <a:srgbClr val="3C61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5010912"/>
            <a:ext cx="2148840" cy="658368"/>
          </a:xfrm>
          <a:prstGeom prst="roundRect">
            <a:avLst/>
          </a:prstGeom>
          <a:solidFill>
            <a:srgbClr val="EFF6E9"/>
          </a:solidFill>
          <a:ln w="19050">
            <a:solidFill>
              <a:srgbClr val="3C6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400" b="1">
                <a:solidFill>
                  <a:srgbClr val="3C6120"/>
                </a:solidFill>
                <a:latin typeface="Aptos"/>
              </a:rPr>
              <a:t>Ranked GOLD
metadata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977639"/>
            <a:ext cx="864108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54864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00313C"/>
                </a:solidFill>
                <a:latin typeface="Aptos"/>
              </a:rPr>
              <a:t>Planner-only change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D35"/>
                </a:solidFill>
                <a:latin typeface="Aptos"/>
              </a:rPr>
              <a:t>The planner could move to OpenAI, but the embedding call would still go to CBorg. The search would remain blocked.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313C"/>
                </a:solidFill>
                <a:latin typeface="Aptos"/>
              </a:rPr>
              <a:t>Complete CBorg-free migration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D35"/>
                </a:solidFill>
                <a:latin typeface="Aptos"/>
              </a:rPr>
              <a:t>Move both services, regenerate compatible vectors, update the embedding catalog/table, and verify readiness.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925312"/>
            <a:ext cx="11292840" cy="502920"/>
          </a:xfrm>
          <a:prstGeom prst="rect">
            <a:avLst/>
          </a:prstGeom>
          <a:solidFill>
            <a:srgbClr val="00242D"/>
          </a:solidFill>
          <a:ln w="19050">
            <a:solidFill>
              <a:srgbClr val="002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Proposed planner endpoint: https://api.openai.com/v1   |   Model ID: gpt-5.6-luna   |   Embeddings require a separate compatible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Search Provider Migration</dc:title>
  <dc:subject>Why planner-only migration does not remove the CBorg dependency</dc:subject>
  <dc:creator>Semantic Search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